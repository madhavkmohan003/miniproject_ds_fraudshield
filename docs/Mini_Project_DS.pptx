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1" r:id="rId6"/>
    <p:sldId id="266" r:id="rId7"/>
    <p:sldId id="260"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p:scale>
          <a:sx n="66" d="100"/>
          <a:sy n="66" d="100"/>
        </p:scale>
        <p:origin x="1320" y="4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D3948-CF54-444D-AD05-84E901A08D67}"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6A142F-DC0F-43D0-9BCE-06558026AB68}" type="slidenum">
              <a:rPr lang="en-IN" smtClean="0"/>
              <a:t>‹#›</a:t>
            </a:fld>
            <a:endParaRPr lang="en-IN"/>
          </a:p>
        </p:txBody>
      </p:sp>
    </p:spTree>
    <p:extLst>
      <p:ext uri="{BB962C8B-B14F-4D97-AF65-F5344CB8AC3E}">
        <p14:creationId xmlns:p14="http://schemas.microsoft.com/office/powerpoint/2010/main" val="1194045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9D452D-7E0B-42A6-A893-33861259EAB0}" type="datetime1">
              <a:rPr lang="en-IN" smtClean="0"/>
              <a:t>17-04-2026</a:t>
            </a:fld>
            <a:endParaRPr lang="en-IN"/>
          </a:p>
        </p:txBody>
      </p:sp>
      <p:sp>
        <p:nvSpPr>
          <p:cNvPr id="5" name="Footer Placeholder 4"/>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60756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BC70B5-49FD-4BA9-BFCE-50EE0BDFF532}" type="datetime1">
              <a:rPr lang="en-IN" smtClean="0"/>
              <a:t>17-04-2026</a:t>
            </a:fld>
            <a:endParaRPr lang="en-IN"/>
          </a:p>
        </p:txBody>
      </p:sp>
      <p:sp>
        <p:nvSpPr>
          <p:cNvPr id="5" name="Footer Placeholder 4"/>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92000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DBB9FD-9FB7-4035-9CBF-2E75AACBC7D2}" type="datetime1">
              <a:rPr lang="en-IN" smtClean="0"/>
              <a:t>17-04-2026</a:t>
            </a:fld>
            <a:endParaRPr lang="en-IN"/>
          </a:p>
        </p:txBody>
      </p:sp>
      <p:sp>
        <p:nvSpPr>
          <p:cNvPr id="5" name="Footer Placeholder 4"/>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33611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493D4D-D4CC-40F2-BB09-BD8366242743}" type="datetime1">
              <a:rPr lang="en-IN" smtClean="0"/>
              <a:t>17-04-2026</a:t>
            </a:fld>
            <a:endParaRPr lang="en-IN"/>
          </a:p>
        </p:txBody>
      </p:sp>
      <p:sp>
        <p:nvSpPr>
          <p:cNvPr id="6" name="Footer Placeholder 5"/>
          <p:cNvSpPr>
            <a:spLocks noGrp="1"/>
          </p:cNvSpPr>
          <p:nvPr>
            <p:ph type="ftr" sz="quarter" idx="11"/>
          </p:nvPr>
        </p:nvSpPr>
        <p:spPr/>
        <p:txBody>
          <a:bodyPr/>
          <a:lstStyle/>
          <a:p>
            <a:r>
              <a:rPr lang="en-IN"/>
              <a:t>School of Computing - SRM Institute of Science &amp; Technology, Tiruchirappalli</a:t>
            </a:r>
          </a:p>
        </p:txBody>
      </p:sp>
      <p:sp>
        <p:nvSpPr>
          <p:cNvPr id="7" name="Slide Number Placeholder 6"/>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802702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470053-EB7C-45CE-83E4-3F12E6EAA123}" type="datetime1">
              <a:rPr lang="en-IN" smtClean="0"/>
              <a:t>17-04-2026</a:t>
            </a:fld>
            <a:endParaRPr lang="en-IN"/>
          </a:p>
        </p:txBody>
      </p:sp>
      <p:sp>
        <p:nvSpPr>
          <p:cNvPr id="8" name="Footer Placeholder 7"/>
          <p:cNvSpPr>
            <a:spLocks noGrp="1"/>
          </p:cNvSpPr>
          <p:nvPr>
            <p:ph type="ftr" sz="quarter" idx="11"/>
          </p:nvPr>
        </p:nvSpPr>
        <p:spPr/>
        <p:txBody>
          <a:bodyPr/>
          <a:lstStyle/>
          <a:p>
            <a:r>
              <a:rPr lang="en-IN"/>
              <a:t>School of Computing - SRM Institute of Science &amp; Technology, Tiruchirappalli</a:t>
            </a:r>
          </a:p>
        </p:txBody>
      </p:sp>
      <p:sp>
        <p:nvSpPr>
          <p:cNvPr id="9" name="Slide Number Placeholder 8"/>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89211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305428-E2C0-4060-A4B0-14726F6C3C47}" type="datetime1">
              <a:rPr lang="en-IN" smtClean="0"/>
              <a:t>17-04-2026</a:t>
            </a:fld>
            <a:endParaRPr lang="en-IN"/>
          </a:p>
        </p:txBody>
      </p:sp>
      <p:sp>
        <p:nvSpPr>
          <p:cNvPr id="4" name="Footer Placeholder 3"/>
          <p:cNvSpPr>
            <a:spLocks noGrp="1"/>
          </p:cNvSpPr>
          <p:nvPr>
            <p:ph type="ftr" sz="quarter" idx="11"/>
          </p:nvPr>
        </p:nvSpPr>
        <p:spPr/>
        <p:txBody>
          <a:bodyPr/>
          <a:lstStyle/>
          <a:p>
            <a:r>
              <a:rPr lang="en-IN"/>
              <a:t>School of Computing - SRM Institute of Science &amp; Technology, Tiruchirappalli</a:t>
            </a:r>
          </a:p>
        </p:txBody>
      </p:sp>
      <p:sp>
        <p:nvSpPr>
          <p:cNvPr id="5" name="Slide Number Placeholder 4"/>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142989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8606E-761F-4BA6-BEBA-7567183AED59}" type="datetime1">
              <a:rPr lang="en-IN" smtClean="0"/>
              <a:t>17-04-2026</a:t>
            </a:fld>
            <a:endParaRPr lang="en-IN"/>
          </a:p>
        </p:txBody>
      </p:sp>
      <p:sp>
        <p:nvSpPr>
          <p:cNvPr id="3" name="Footer Placeholder 2"/>
          <p:cNvSpPr>
            <a:spLocks noGrp="1"/>
          </p:cNvSpPr>
          <p:nvPr>
            <p:ph type="ftr" sz="quarter" idx="11"/>
          </p:nvPr>
        </p:nvSpPr>
        <p:spPr/>
        <p:txBody>
          <a:bodyPr/>
          <a:lstStyle/>
          <a:p>
            <a:r>
              <a:rPr lang="en-IN"/>
              <a:t>School of Computing - SRM Institute of Science &amp; Technology, Tiruchirappalli</a:t>
            </a:r>
          </a:p>
        </p:txBody>
      </p:sp>
      <p:sp>
        <p:nvSpPr>
          <p:cNvPr id="4" name="Slide Number Placeholder 3"/>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4247045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4D5605-3026-4801-912E-870654A91BAC}" type="datetime1">
              <a:rPr lang="en-IN" smtClean="0"/>
              <a:t>17-04-2026</a:t>
            </a:fld>
            <a:endParaRPr lang="en-IN"/>
          </a:p>
        </p:txBody>
      </p:sp>
      <p:sp>
        <p:nvSpPr>
          <p:cNvPr id="6" name="Footer Placeholder 5"/>
          <p:cNvSpPr>
            <a:spLocks noGrp="1"/>
          </p:cNvSpPr>
          <p:nvPr>
            <p:ph type="ftr" sz="quarter" idx="11"/>
          </p:nvPr>
        </p:nvSpPr>
        <p:spPr/>
        <p:txBody>
          <a:bodyPr/>
          <a:lstStyle/>
          <a:p>
            <a:r>
              <a:rPr lang="en-IN"/>
              <a:t>School of Computing - SRM Institute of Science &amp; Technology, Tiruchirappalli</a:t>
            </a:r>
          </a:p>
        </p:txBody>
      </p:sp>
      <p:sp>
        <p:nvSpPr>
          <p:cNvPr id="7" name="Slide Number Placeholder 6"/>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3824755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0FFAE-65BA-423F-93EF-8510F62572D4}" type="datetime1">
              <a:rPr lang="en-IN" smtClean="0"/>
              <a:t>17-04-2026</a:t>
            </a:fld>
            <a:endParaRPr lang="en-IN"/>
          </a:p>
        </p:txBody>
      </p:sp>
      <p:sp>
        <p:nvSpPr>
          <p:cNvPr id="6" name="Footer Placeholder 5"/>
          <p:cNvSpPr>
            <a:spLocks noGrp="1"/>
          </p:cNvSpPr>
          <p:nvPr>
            <p:ph type="ftr" sz="quarter" idx="11"/>
          </p:nvPr>
        </p:nvSpPr>
        <p:spPr/>
        <p:txBody>
          <a:bodyPr/>
          <a:lstStyle/>
          <a:p>
            <a:r>
              <a:rPr lang="en-IN"/>
              <a:t>School of Computing - SRM Institute of Science &amp; Technology, Tiruchirappalli</a:t>
            </a:r>
          </a:p>
        </p:txBody>
      </p:sp>
      <p:sp>
        <p:nvSpPr>
          <p:cNvPr id="7" name="Slide Number Placeholder 6"/>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262000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DF9AA-1750-4496-A48D-9DC879C9FC53}" type="datetime1">
              <a:rPr lang="en-IN" smtClean="0"/>
              <a:t>17-04-2026</a:t>
            </a:fld>
            <a:endParaRPr lang="en-IN"/>
          </a:p>
        </p:txBody>
      </p:sp>
      <p:sp>
        <p:nvSpPr>
          <p:cNvPr id="5" name="Footer Placeholder 4"/>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1701509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BD1D0B-B9DC-4C0D-AFA5-8816E8177461}" type="datetime1">
              <a:rPr lang="en-IN" smtClean="0"/>
              <a:t>17-04-2026</a:t>
            </a:fld>
            <a:endParaRPr lang="en-IN"/>
          </a:p>
        </p:txBody>
      </p:sp>
      <p:sp>
        <p:nvSpPr>
          <p:cNvPr id="5" name="Footer Placeholder 4"/>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p:cNvSpPr>
            <a:spLocks noGrp="1"/>
          </p:cNvSpPr>
          <p:nvPr>
            <p:ph type="sldNum" sz="quarter" idx="12"/>
          </p:nvPr>
        </p:nvSpPr>
        <p:spPr/>
        <p:txBody>
          <a:bodyPr/>
          <a:lstStyle/>
          <a:p>
            <a:fld id="{9C987D95-E3E9-43CF-A987-B5CE8A616346}" type="slidenum">
              <a:rPr lang="en-IN" smtClean="0"/>
              <a:t>‹#›</a:t>
            </a:fld>
            <a:endParaRPr lang="en-IN"/>
          </a:p>
        </p:txBody>
      </p:sp>
    </p:spTree>
    <p:extLst>
      <p:ext uri="{BB962C8B-B14F-4D97-AF65-F5344CB8AC3E}">
        <p14:creationId xmlns:p14="http://schemas.microsoft.com/office/powerpoint/2010/main" val="357459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BB9860-3173-4580-87F0-42FE637AC4AC}" type="datetime1">
              <a:rPr lang="en-IN" smtClean="0"/>
              <a:t>17-04-2026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School of Computing - SRM Institute of Science &amp; Technology, Tiruchirappalli</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987D95-E3E9-43CF-A987-B5CE8A616346}" type="slidenum">
              <a:rPr lang="en-IN" smtClean="0"/>
              <a:t>‹#›</a:t>
            </a:fld>
            <a:endParaRPr lang="en-IN"/>
          </a:p>
        </p:txBody>
      </p:sp>
    </p:spTree>
    <p:extLst>
      <p:ext uri="{BB962C8B-B14F-4D97-AF65-F5344CB8AC3E}">
        <p14:creationId xmlns:p14="http://schemas.microsoft.com/office/powerpoint/2010/main" val="2885592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A07C-60B9-4BFA-8812-E20B5D417886}"/>
              </a:ext>
            </a:extLst>
          </p:cNvPr>
          <p:cNvSpPr>
            <a:spLocks noGrp="1"/>
          </p:cNvSpPr>
          <p:nvPr>
            <p:ph type="ctrTitle"/>
          </p:nvPr>
        </p:nvSpPr>
        <p:spPr>
          <a:xfrm>
            <a:off x="2209800" y="-69513"/>
            <a:ext cx="9529482" cy="1834468"/>
          </a:xfrm>
        </p:spPr>
        <p:txBody>
          <a:bodyPr>
            <a:noAutofit/>
          </a:bodyPr>
          <a:lstStyle/>
          <a:p>
            <a:r>
              <a:rPr lang="en-US" sz="4000" b="1" dirty="0" err="1">
                <a:latin typeface="Book Antiqua" panose="02040602050305030304" pitchFamily="18" charset="0"/>
              </a:rPr>
              <a:t>FraudShield</a:t>
            </a:r>
            <a:r>
              <a:rPr lang="en-US" sz="4000" b="1" dirty="0">
                <a:latin typeface="Book Antiqua" panose="02040602050305030304" pitchFamily="18" charset="0"/>
              </a:rPr>
              <a:t>: Detecting Credit Card Fraud Using Machine Learning</a:t>
            </a:r>
            <a:endParaRPr lang="en-IN" sz="4000" b="1" dirty="0">
              <a:latin typeface="Book Antiqua" panose="02040602050305030304" pitchFamily="18" charset="0"/>
            </a:endParaRPr>
          </a:p>
        </p:txBody>
      </p:sp>
      <p:sp>
        <p:nvSpPr>
          <p:cNvPr id="3" name="Subtitle 2">
            <a:extLst>
              <a:ext uri="{FF2B5EF4-FFF2-40B4-BE49-F238E27FC236}">
                <a16:creationId xmlns:a16="http://schemas.microsoft.com/office/drawing/2014/main" id="{12408657-F627-484B-92C4-35C9A01F07ED}"/>
              </a:ext>
            </a:extLst>
          </p:cNvPr>
          <p:cNvSpPr>
            <a:spLocks noGrp="1"/>
          </p:cNvSpPr>
          <p:nvPr>
            <p:ph type="subTitle" idx="1"/>
          </p:nvPr>
        </p:nvSpPr>
        <p:spPr>
          <a:xfrm>
            <a:off x="2756646" y="2996829"/>
            <a:ext cx="6678707" cy="864341"/>
          </a:xfrm>
        </p:spPr>
        <p:txBody>
          <a:bodyPr>
            <a:normAutofit/>
          </a:bodyPr>
          <a:lstStyle/>
          <a:p>
            <a:pPr lvl="0" algn="just">
              <a:lnSpc>
                <a:spcPct val="107000"/>
              </a:lnSpc>
              <a:spcBef>
                <a:spcPts val="600"/>
              </a:spcBef>
              <a:spcAft>
                <a:spcPts val="600"/>
              </a:spcAft>
              <a:buSzPts val="1000"/>
              <a:tabLst>
                <a:tab pos="457200" algn="l"/>
              </a:tabLst>
            </a:pPr>
            <a:r>
              <a:rPr lang="en-IN" sz="4000" b="1" dirty="0">
                <a:effectLst/>
                <a:latin typeface="Bahnschrift" panose="020B0502040204020203" pitchFamily="34" charset="0"/>
                <a:ea typeface="Calibri" panose="020F0502020204030204" pitchFamily="34" charset="0"/>
                <a:cs typeface="Times New Roman" panose="02020603050405020304" pitchFamily="18" charset="0"/>
              </a:rPr>
              <a:t>DATA SCIENCE (21CSS303T) </a:t>
            </a:r>
          </a:p>
        </p:txBody>
      </p:sp>
      <p:sp>
        <p:nvSpPr>
          <p:cNvPr id="6" name="Date Placeholder 5">
            <a:extLst>
              <a:ext uri="{FF2B5EF4-FFF2-40B4-BE49-F238E27FC236}">
                <a16:creationId xmlns:a16="http://schemas.microsoft.com/office/drawing/2014/main" id="{3409D071-504A-41F1-9191-D5671319B6B1}"/>
              </a:ext>
            </a:extLst>
          </p:cNvPr>
          <p:cNvSpPr>
            <a:spLocks noGrp="1"/>
          </p:cNvSpPr>
          <p:nvPr>
            <p:ph type="dt" sz="half" idx="10"/>
          </p:nvPr>
        </p:nvSpPr>
        <p:spPr/>
        <p:txBody>
          <a:bodyPr/>
          <a:lstStyle/>
          <a:p>
            <a:r>
              <a:rPr lang="en-IN" dirty="0"/>
              <a:t>20-04-2026</a:t>
            </a:r>
          </a:p>
        </p:txBody>
      </p:sp>
      <p:sp>
        <p:nvSpPr>
          <p:cNvPr id="7" name="Footer Placeholder 6">
            <a:extLst>
              <a:ext uri="{FF2B5EF4-FFF2-40B4-BE49-F238E27FC236}">
                <a16:creationId xmlns:a16="http://schemas.microsoft.com/office/drawing/2014/main" id="{7484D807-1AA6-4DCB-9F29-048AAFA7AF24}"/>
              </a:ext>
            </a:extLst>
          </p:cNvPr>
          <p:cNvSpPr>
            <a:spLocks noGrp="1"/>
          </p:cNvSpPr>
          <p:nvPr>
            <p:ph type="ftr" sz="quarter" idx="11"/>
          </p:nvPr>
        </p:nvSpPr>
        <p:spPr/>
        <p:txBody>
          <a:bodyPr/>
          <a:lstStyle/>
          <a:p>
            <a:r>
              <a:rPr lang="en-IN" dirty="0"/>
              <a:t>School of Computing - SRM Institute of Science &amp; Technology, Tiruchirappalli</a:t>
            </a:r>
          </a:p>
        </p:txBody>
      </p:sp>
      <p:sp>
        <p:nvSpPr>
          <p:cNvPr id="8" name="Slide Number Placeholder 7">
            <a:extLst>
              <a:ext uri="{FF2B5EF4-FFF2-40B4-BE49-F238E27FC236}">
                <a16:creationId xmlns:a16="http://schemas.microsoft.com/office/drawing/2014/main" id="{4F7A3CF3-83D6-431F-84EF-2E1E09B53E69}"/>
              </a:ext>
            </a:extLst>
          </p:cNvPr>
          <p:cNvSpPr>
            <a:spLocks noGrp="1"/>
          </p:cNvSpPr>
          <p:nvPr>
            <p:ph type="sldNum" sz="quarter" idx="12"/>
          </p:nvPr>
        </p:nvSpPr>
        <p:spPr/>
        <p:txBody>
          <a:bodyPr/>
          <a:lstStyle/>
          <a:p>
            <a:fld id="{9C987D95-E3E9-43CF-A987-B5CE8A616346}" type="slidenum">
              <a:rPr lang="en-IN" smtClean="0"/>
              <a:t>1</a:t>
            </a:fld>
            <a:endParaRPr lang="en-IN"/>
          </a:p>
        </p:txBody>
      </p:sp>
      <p:pic>
        <p:nvPicPr>
          <p:cNvPr id="5" name="Picture 4">
            <a:extLst>
              <a:ext uri="{FF2B5EF4-FFF2-40B4-BE49-F238E27FC236}">
                <a16:creationId xmlns:a16="http://schemas.microsoft.com/office/drawing/2014/main" id="{53634CEA-194B-43A6-AB3A-ED4088EF8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823" y="411285"/>
            <a:ext cx="2330823" cy="1353670"/>
          </a:xfrm>
          <a:prstGeom prst="rect">
            <a:avLst/>
          </a:prstGeom>
        </p:spPr>
      </p:pic>
      <p:sp>
        <p:nvSpPr>
          <p:cNvPr id="4" name="TextBox 3">
            <a:extLst>
              <a:ext uri="{FF2B5EF4-FFF2-40B4-BE49-F238E27FC236}">
                <a16:creationId xmlns:a16="http://schemas.microsoft.com/office/drawing/2014/main" id="{DAAD7300-6251-D66C-8265-CB9601DFCA90}"/>
              </a:ext>
            </a:extLst>
          </p:cNvPr>
          <p:cNvSpPr txBox="1"/>
          <p:nvPr/>
        </p:nvSpPr>
        <p:spPr>
          <a:xfrm>
            <a:off x="8153400" y="4956458"/>
            <a:ext cx="4195482" cy="880369"/>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Madhav K Mohan (RA2311026050003)</a:t>
            </a:r>
          </a:p>
          <a:p>
            <a:pPr>
              <a:lnSpc>
                <a:spcPct val="150000"/>
              </a:lnSpc>
            </a:pPr>
            <a:r>
              <a:rPr lang="en-US" dirty="0">
                <a:latin typeface="Times New Roman" panose="02020603050405020304" pitchFamily="18" charset="0"/>
                <a:cs typeface="Times New Roman" panose="02020603050405020304" pitchFamily="18" charset="0"/>
              </a:rPr>
              <a:t>Manu Krishnan (RA2311026050065)</a:t>
            </a:r>
          </a:p>
        </p:txBody>
      </p:sp>
    </p:spTree>
    <p:extLst>
      <p:ext uri="{BB962C8B-B14F-4D97-AF65-F5344CB8AC3E}">
        <p14:creationId xmlns:p14="http://schemas.microsoft.com/office/powerpoint/2010/main" val="49765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9A9CD-39B5-4BCC-9FBC-845D0B2D8B2E}"/>
              </a:ext>
            </a:extLst>
          </p:cNvPr>
          <p:cNvSpPr>
            <a:spLocks noGrp="1"/>
          </p:cNvSpPr>
          <p:nvPr>
            <p:ph type="title"/>
          </p:nvPr>
        </p:nvSpPr>
        <p:spPr>
          <a:xfrm>
            <a:off x="838199" y="200819"/>
            <a:ext cx="10515600" cy="1325563"/>
          </a:xfrm>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D8E1B7F-1632-48BA-AFF8-D6D53BCC55BA}"/>
              </a:ext>
            </a:extLst>
          </p:cNvPr>
          <p:cNvSpPr>
            <a:spLocks noGrp="1"/>
          </p:cNvSpPr>
          <p:nvPr>
            <p:ph idx="1"/>
          </p:nvPr>
        </p:nvSpPr>
        <p:spPr>
          <a:xfrm>
            <a:off x="1196787" y="1612151"/>
            <a:ext cx="9798424" cy="4842809"/>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With the rapid growth of digital payments and online financial systems, fraudulent activities have increased significantly. These frauds cause major financial losses and reduce trust in digital platforms. Traditional rule-based systems are not effective in identifying new and evolving fraud patterns. Therefore, there is a need for intelligent systems that can learn from data and detect anomalies automatically using machine learning techniques.</a:t>
            </a:r>
          </a:p>
        </p:txBody>
      </p:sp>
      <p:sp>
        <p:nvSpPr>
          <p:cNvPr id="4" name="Date Placeholder 3">
            <a:extLst>
              <a:ext uri="{FF2B5EF4-FFF2-40B4-BE49-F238E27FC236}">
                <a16:creationId xmlns:a16="http://schemas.microsoft.com/office/drawing/2014/main" id="{B43F058A-7DE0-43A0-8E5E-E963655FC72D}"/>
              </a:ext>
            </a:extLst>
          </p:cNvPr>
          <p:cNvSpPr>
            <a:spLocks noGrp="1"/>
          </p:cNvSpPr>
          <p:nvPr>
            <p:ph type="dt" sz="half" idx="10"/>
          </p:nvPr>
        </p:nvSpPr>
        <p:spPr/>
        <p:txBody>
          <a:bodyPr/>
          <a:lstStyle/>
          <a:p>
            <a:r>
              <a:rPr lang="en-IN" dirty="0"/>
              <a:t>20-04-2026</a:t>
            </a:r>
          </a:p>
        </p:txBody>
      </p:sp>
      <p:sp>
        <p:nvSpPr>
          <p:cNvPr id="5" name="Footer Placeholder 4">
            <a:extLst>
              <a:ext uri="{FF2B5EF4-FFF2-40B4-BE49-F238E27FC236}">
                <a16:creationId xmlns:a16="http://schemas.microsoft.com/office/drawing/2014/main" id="{B3D41C7D-5777-44D1-85DD-AC938906DBA9}"/>
              </a:ext>
            </a:extLst>
          </p:cNvPr>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a:extLst>
              <a:ext uri="{FF2B5EF4-FFF2-40B4-BE49-F238E27FC236}">
                <a16:creationId xmlns:a16="http://schemas.microsoft.com/office/drawing/2014/main" id="{59BB8865-F524-4ADA-8B86-E1ABAFB5FC79}"/>
              </a:ext>
            </a:extLst>
          </p:cNvPr>
          <p:cNvSpPr>
            <a:spLocks noGrp="1"/>
          </p:cNvSpPr>
          <p:nvPr>
            <p:ph type="sldNum" sz="quarter" idx="12"/>
          </p:nvPr>
        </p:nvSpPr>
        <p:spPr/>
        <p:txBody>
          <a:bodyPr/>
          <a:lstStyle/>
          <a:p>
            <a:fld id="{9C987D95-E3E9-43CF-A987-B5CE8A616346}" type="slidenum">
              <a:rPr lang="en-IN" smtClean="0"/>
              <a:t>2</a:t>
            </a:fld>
            <a:endParaRPr lang="en-IN"/>
          </a:p>
        </p:txBody>
      </p:sp>
      <p:pic>
        <p:nvPicPr>
          <p:cNvPr id="7" name="Picture 6">
            <a:extLst>
              <a:ext uri="{FF2B5EF4-FFF2-40B4-BE49-F238E27FC236}">
                <a16:creationId xmlns:a16="http://schemas.microsoft.com/office/drawing/2014/main" id="{D1C38BBB-88CB-3248-9127-3DC9F248C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389" y="265114"/>
            <a:ext cx="2061018" cy="1196974"/>
          </a:xfrm>
          <a:prstGeom prst="rect">
            <a:avLst/>
          </a:prstGeom>
        </p:spPr>
      </p:pic>
    </p:spTree>
    <p:extLst>
      <p:ext uri="{BB962C8B-B14F-4D97-AF65-F5344CB8AC3E}">
        <p14:creationId xmlns:p14="http://schemas.microsoft.com/office/powerpoint/2010/main" val="1530276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E8866-C2EF-41E6-8A42-C7ADC15D82A7}"/>
              </a:ext>
            </a:extLst>
          </p:cNvPr>
          <p:cNvSpPr>
            <a:spLocks noGrp="1"/>
          </p:cNvSpPr>
          <p:nvPr>
            <p:ph type="title"/>
          </p:nvPr>
        </p:nvSpPr>
        <p:spPr>
          <a:xfrm>
            <a:off x="838200" y="200819"/>
            <a:ext cx="10515600" cy="1325563"/>
          </a:xfrm>
        </p:spPr>
        <p:txBody>
          <a:bodyPr/>
          <a:lstStyle/>
          <a:p>
            <a:pPr algn="ctr"/>
            <a:r>
              <a:rPr lang="en-IN" b="1" dirty="0">
                <a:latin typeface="Times New Roman" panose="02020603050405020304" pitchFamily="18" charset="0"/>
                <a:cs typeface="Times New Roman" panose="02020603050405020304" pitchFamily="18" charset="0"/>
              </a:rPr>
              <a:t>Problem Statement</a:t>
            </a:r>
          </a:p>
        </p:txBody>
      </p:sp>
      <p:sp>
        <p:nvSpPr>
          <p:cNvPr id="4" name="Date Placeholder 3">
            <a:extLst>
              <a:ext uri="{FF2B5EF4-FFF2-40B4-BE49-F238E27FC236}">
                <a16:creationId xmlns:a16="http://schemas.microsoft.com/office/drawing/2014/main" id="{1985FDB2-18A9-4ECF-9FAF-BCCEAC8A552F}"/>
              </a:ext>
            </a:extLst>
          </p:cNvPr>
          <p:cNvSpPr>
            <a:spLocks noGrp="1"/>
          </p:cNvSpPr>
          <p:nvPr>
            <p:ph type="dt" sz="half" idx="10"/>
          </p:nvPr>
        </p:nvSpPr>
        <p:spPr/>
        <p:txBody>
          <a:bodyPr/>
          <a:lstStyle/>
          <a:p>
            <a:r>
              <a:rPr lang="en-IN" dirty="0"/>
              <a:t>20-04-2026</a:t>
            </a:r>
          </a:p>
        </p:txBody>
      </p:sp>
      <p:sp>
        <p:nvSpPr>
          <p:cNvPr id="5" name="Footer Placeholder 4">
            <a:extLst>
              <a:ext uri="{FF2B5EF4-FFF2-40B4-BE49-F238E27FC236}">
                <a16:creationId xmlns:a16="http://schemas.microsoft.com/office/drawing/2014/main" id="{EDEDE755-6852-4DC2-AAA8-7C24EED97561}"/>
              </a:ext>
            </a:extLst>
          </p:cNvPr>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a:extLst>
              <a:ext uri="{FF2B5EF4-FFF2-40B4-BE49-F238E27FC236}">
                <a16:creationId xmlns:a16="http://schemas.microsoft.com/office/drawing/2014/main" id="{F265A9D2-93FF-487C-9FC5-2E5D09FD9335}"/>
              </a:ext>
            </a:extLst>
          </p:cNvPr>
          <p:cNvSpPr>
            <a:spLocks noGrp="1"/>
          </p:cNvSpPr>
          <p:nvPr>
            <p:ph type="sldNum" sz="quarter" idx="12"/>
          </p:nvPr>
        </p:nvSpPr>
        <p:spPr/>
        <p:txBody>
          <a:bodyPr/>
          <a:lstStyle/>
          <a:p>
            <a:fld id="{9C987D95-E3E9-43CF-A987-B5CE8A616346}" type="slidenum">
              <a:rPr lang="en-IN" smtClean="0"/>
              <a:t>3</a:t>
            </a:fld>
            <a:endParaRPr lang="en-IN"/>
          </a:p>
        </p:txBody>
      </p:sp>
      <p:pic>
        <p:nvPicPr>
          <p:cNvPr id="10" name="Picture 9">
            <a:extLst>
              <a:ext uri="{FF2B5EF4-FFF2-40B4-BE49-F238E27FC236}">
                <a16:creationId xmlns:a16="http://schemas.microsoft.com/office/drawing/2014/main" id="{A2725B28-16AA-75F9-987A-C40E23936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629" y="265114"/>
            <a:ext cx="2061018" cy="1196974"/>
          </a:xfrm>
          <a:prstGeom prst="rect">
            <a:avLst/>
          </a:prstGeom>
        </p:spPr>
      </p:pic>
      <p:sp>
        <p:nvSpPr>
          <p:cNvPr id="11" name="Content Placeholder 2">
            <a:extLst>
              <a:ext uri="{FF2B5EF4-FFF2-40B4-BE49-F238E27FC236}">
                <a16:creationId xmlns:a16="http://schemas.microsoft.com/office/drawing/2014/main" id="{6966E616-A1EA-FABC-C371-9843B2CEA3DC}"/>
              </a:ext>
            </a:extLst>
          </p:cNvPr>
          <p:cNvSpPr>
            <a:spLocks noGrp="1"/>
          </p:cNvSpPr>
          <p:nvPr>
            <p:ph idx="1"/>
          </p:nvPr>
        </p:nvSpPr>
        <p:spPr>
          <a:xfrm>
            <a:off x="1196787" y="1612151"/>
            <a:ext cx="9798424" cy="4842809"/>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Detecting fraudulent transactions is a challenging task due to the highly imbalanced nature of financial datasets. Fraud cases represent only a very small percentage of total transactions, making it difficult for models to identify them accurately. The objective is to develop a system that can analyze transaction data and accurately classify whether a transaction is fraudulent or legitimate.</a:t>
            </a:r>
          </a:p>
        </p:txBody>
      </p:sp>
    </p:spTree>
    <p:extLst>
      <p:ext uri="{BB962C8B-B14F-4D97-AF65-F5344CB8AC3E}">
        <p14:creationId xmlns:p14="http://schemas.microsoft.com/office/powerpoint/2010/main" val="588294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3CAA-3097-4347-9F93-FB90A14EBCEC}"/>
              </a:ext>
            </a:extLst>
          </p:cNvPr>
          <p:cNvSpPr>
            <a:spLocks noGrp="1"/>
          </p:cNvSpPr>
          <p:nvPr>
            <p:ph type="title"/>
          </p:nvPr>
        </p:nvSpPr>
        <p:spPr>
          <a:xfrm>
            <a:off x="838200" y="207167"/>
            <a:ext cx="10515600" cy="1325563"/>
          </a:xfrm>
        </p:spPr>
        <p:txBody>
          <a:bodyPr/>
          <a:lstStyle/>
          <a:p>
            <a:pPr algn="ctr"/>
            <a:r>
              <a:rPr lang="en-IN" b="1" dirty="0">
                <a:latin typeface="Times New Roman" panose="02020603050405020304" pitchFamily="18" charset="0"/>
                <a:cs typeface="Times New Roman" panose="02020603050405020304" pitchFamily="18" charset="0"/>
              </a:rPr>
              <a:t>Dataset Description</a:t>
            </a:r>
          </a:p>
        </p:txBody>
      </p:sp>
      <p:sp>
        <p:nvSpPr>
          <p:cNvPr id="4" name="Date Placeholder 3">
            <a:extLst>
              <a:ext uri="{FF2B5EF4-FFF2-40B4-BE49-F238E27FC236}">
                <a16:creationId xmlns:a16="http://schemas.microsoft.com/office/drawing/2014/main" id="{3A29D65F-3E87-45F7-BF69-0341BD8E01E4}"/>
              </a:ext>
            </a:extLst>
          </p:cNvPr>
          <p:cNvSpPr>
            <a:spLocks noGrp="1"/>
          </p:cNvSpPr>
          <p:nvPr>
            <p:ph type="dt" sz="half" idx="10"/>
          </p:nvPr>
        </p:nvSpPr>
        <p:spPr/>
        <p:txBody>
          <a:bodyPr/>
          <a:lstStyle/>
          <a:p>
            <a:r>
              <a:rPr lang="en-IN" dirty="0"/>
              <a:t>20-04-2026</a:t>
            </a:r>
          </a:p>
        </p:txBody>
      </p:sp>
      <p:sp>
        <p:nvSpPr>
          <p:cNvPr id="5" name="Footer Placeholder 4">
            <a:extLst>
              <a:ext uri="{FF2B5EF4-FFF2-40B4-BE49-F238E27FC236}">
                <a16:creationId xmlns:a16="http://schemas.microsoft.com/office/drawing/2014/main" id="{48934EDA-77D1-454F-A8FC-6868B6AEE848}"/>
              </a:ext>
            </a:extLst>
          </p:cNvPr>
          <p:cNvSpPr>
            <a:spLocks noGrp="1"/>
          </p:cNvSpPr>
          <p:nvPr>
            <p:ph type="ftr" sz="quarter" idx="11"/>
          </p:nvPr>
        </p:nvSpPr>
        <p:spPr/>
        <p:txBody>
          <a:bodyPr/>
          <a:lstStyle/>
          <a:p>
            <a:r>
              <a:rPr lang="en-IN" dirty="0"/>
              <a:t>School of Computing - SRM Institute of Science &amp; Technology, Tiruchirappalli</a:t>
            </a:r>
          </a:p>
        </p:txBody>
      </p:sp>
      <p:sp>
        <p:nvSpPr>
          <p:cNvPr id="6" name="Slide Number Placeholder 5">
            <a:extLst>
              <a:ext uri="{FF2B5EF4-FFF2-40B4-BE49-F238E27FC236}">
                <a16:creationId xmlns:a16="http://schemas.microsoft.com/office/drawing/2014/main" id="{6ADB56D1-0F3E-4F4A-A93A-85B515A522A4}"/>
              </a:ext>
            </a:extLst>
          </p:cNvPr>
          <p:cNvSpPr>
            <a:spLocks noGrp="1"/>
          </p:cNvSpPr>
          <p:nvPr>
            <p:ph type="sldNum" sz="quarter" idx="12"/>
          </p:nvPr>
        </p:nvSpPr>
        <p:spPr/>
        <p:txBody>
          <a:bodyPr/>
          <a:lstStyle/>
          <a:p>
            <a:fld id="{9C987D95-E3E9-43CF-A987-B5CE8A616346}" type="slidenum">
              <a:rPr lang="en-IN" smtClean="0"/>
              <a:t>4</a:t>
            </a:fld>
            <a:endParaRPr lang="en-IN"/>
          </a:p>
        </p:txBody>
      </p:sp>
      <p:pic>
        <p:nvPicPr>
          <p:cNvPr id="7" name="Picture 6">
            <a:extLst>
              <a:ext uri="{FF2B5EF4-FFF2-40B4-BE49-F238E27FC236}">
                <a16:creationId xmlns:a16="http://schemas.microsoft.com/office/drawing/2014/main" id="{F193994C-A1C9-369C-9312-6BC8DF88F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494" y="271461"/>
            <a:ext cx="2061018" cy="1196974"/>
          </a:xfrm>
          <a:prstGeom prst="rect">
            <a:avLst/>
          </a:prstGeom>
        </p:spPr>
      </p:pic>
      <p:sp>
        <p:nvSpPr>
          <p:cNvPr id="10" name="Content Placeholder 2">
            <a:extLst>
              <a:ext uri="{FF2B5EF4-FFF2-40B4-BE49-F238E27FC236}">
                <a16:creationId xmlns:a16="http://schemas.microsoft.com/office/drawing/2014/main" id="{B58053DE-2AB5-DF18-75D0-B31100611BFE}"/>
              </a:ext>
            </a:extLst>
          </p:cNvPr>
          <p:cNvSpPr>
            <a:spLocks noGrp="1"/>
          </p:cNvSpPr>
          <p:nvPr>
            <p:ph idx="1"/>
          </p:nvPr>
        </p:nvSpPr>
        <p:spPr>
          <a:xfrm>
            <a:off x="1196787" y="1612152"/>
            <a:ext cx="9798424" cy="4627284"/>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The dataset used in this project is obtained from Kaggle and contains approximately 1.29 million transaction records. It includes both numerical and categorical features such as transaction amount, merchant information, customer demographics, and geographic details. The target variable, </a:t>
            </a:r>
            <a:r>
              <a:rPr lang="en-US" sz="2000" dirty="0" err="1">
                <a:latin typeface="Times New Roman" panose="02020603050405020304" pitchFamily="18" charset="0"/>
                <a:cs typeface="Times New Roman" panose="02020603050405020304" pitchFamily="18" charset="0"/>
              </a:rPr>
              <a:t>is_fraud</a:t>
            </a:r>
            <a:r>
              <a:rPr lang="en-US" sz="2000" dirty="0">
                <a:latin typeface="Times New Roman" panose="02020603050405020304" pitchFamily="18" charset="0"/>
                <a:cs typeface="Times New Roman" panose="02020603050405020304" pitchFamily="18" charset="0"/>
              </a:rPr>
              <a:t>, indicates whether a transaction is fraudulent or not. The dataset is highly imbalanced, which makes preprocessing an essential step.</a:t>
            </a:r>
          </a:p>
        </p:txBody>
      </p:sp>
    </p:spTree>
    <p:extLst>
      <p:ext uri="{BB962C8B-B14F-4D97-AF65-F5344CB8AC3E}">
        <p14:creationId xmlns:p14="http://schemas.microsoft.com/office/powerpoint/2010/main" val="4248390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DC39-D699-45C0-BECB-A05C31BB2005}"/>
              </a:ext>
            </a:extLst>
          </p:cNvPr>
          <p:cNvSpPr>
            <a:spLocks noGrp="1"/>
          </p:cNvSpPr>
          <p:nvPr>
            <p:ph type="title"/>
          </p:nvPr>
        </p:nvSpPr>
        <p:spPr>
          <a:xfrm>
            <a:off x="699713" y="248038"/>
            <a:ext cx="10766146" cy="1159200"/>
          </a:xfrm>
        </p:spPr>
        <p:txBody>
          <a:bodyPr vert="horz" lIns="91440" tIns="45720" rIns="91440" bIns="45720" rtlCol="0" anchor="ctr">
            <a:normAutofit/>
          </a:bodyPr>
          <a:lstStyle/>
          <a:p>
            <a:pPr algn="ctr"/>
            <a:r>
              <a:rPr lang="en-US" b="1" kern="1200" dirty="0">
                <a:latin typeface="Times New Roman" panose="02020603050405020304" pitchFamily="18" charset="0"/>
                <a:cs typeface="Times New Roman" panose="02020603050405020304" pitchFamily="18" charset="0"/>
              </a:rPr>
              <a:t>Methodology</a:t>
            </a:r>
          </a:p>
        </p:txBody>
      </p:sp>
      <p:sp>
        <p:nvSpPr>
          <p:cNvPr id="4" name="Date Placeholder 3">
            <a:extLst>
              <a:ext uri="{FF2B5EF4-FFF2-40B4-BE49-F238E27FC236}">
                <a16:creationId xmlns:a16="http://schemas.microsoft.com/office/drawing/2014/main" id="{BBF64A67-5223-4346-AFA9-D0EC28D41D1B}"/>
              </a:ext>
            </a:extLst>
          </p:cNvPr>
          <p:cNvSpPr>
            <a:spLocks noGrp="1"/>
          </p:cNvSpPr>
          <p:nvPr>
            <p:ph type="dt" sz="half" idx="10"/>
          </p:nvPr>
        </p:nvSpPr>
        <p:spPr>
          <a:xfrm>
            <a:off x="336362" y="6346440"/>
            <a:ext cx="1196072" cy="365125"/>
          </a:xfrm>
        </p:spPr>
        <p:txBody>
          <a:bodyPr vert="horz" lIns="91440" tIns="45720" rIns="91440" bIns="45720" rtlCol="0" anchor="ctr">
            <a:normAutofit/>
          </a:bodyPr>
          <a:lstStyle/>
          <a:p>
            <a:pPr algn="r">
              <a:spcAft>
                <a:spcPts val="600"/>
              </a:spcAft>
            </a:pPr>
            <a:r>
              <a:rPr lang="en-US" sz="1100" dirty="0">
                <a:solidFill>
                  <a:schemeClr val="tx1">
                    <a:lumMod val="50000"/>
                    <a:lumOff val="50000"/>
                  </a:schemeClr>
                </a:solidFill>
              </a:rPr>
              <a:t>20-04-2026</a:t>
            </a:r>
          </a:p>
        </p:txBody>
      </p:sp>
      <p:sp>
        <p:nvSpPr>
          <p:cNvPr id="6" name="Slide Number Placeholder 5">
            <a:extLst>
              <a:ext uri="{FF2B5EF4-FFF2-40B4-BE49-F238E27FC236}">
                <a16:creationId xmlns:a16="http://schemas.microsoft.com/office/drawing/2014/main" id="{70303CFF-A2C7-4C0B-A94B-6704D753B628}"/>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9C987D95-E3E9-43CF-A987-B5CE8A616346}" type="slidenum">
              <a:rPr lang="en-US" sz="1100">
                <a:solidFill>
                  <a:schemeClr val="tx1">
                    <a:lumMod val="50000"/>
                    <a:lumOff val="50000"/>
                  </a:schemeClr>
                </a:solidFill>
              </a:rPr>
              <a:pPr>
                <a:spcAft>
                  <a:spcPts val="600"/>
                </a:spcAft>
              </a:pPr>
              <a:t>5</a:t>
            </a:fld>
            <a:endParaRPr lang="en-US" sz="1100">
              <a:solidFill>
                <a:schemeClr val="tx1">
                  <a:lumMod val="50000"/>
                  <a:lumOff val="50000"/>
                </a:schemeClr>
              </a:solidFill>
            </a:endParaRPr>
          </a:p>
        </p:txBody>
      </p:sp>
      <p:pic>
        <p:nvPicPr>
          <p:cNvPr id="3" name="Picture 2">
            <a:extLst>
              <a:ext uri="{FF2B5EF4-FFF2-40B4-BE49-F238E27FC236}">
                <a16:creationId xmlns:a16="http://schemas.microsoft.com/office/drawing/2014/main" id="{DBF086F7-0A42-9CE2-092A-00079E434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53" y="229151"/>
            <a:ext cx="2061018" cy="1196974"/>
          </a:xfrm>
          <a:prstGeom prst="rect">
            <a:avLst/>
          </a:prstGeom>
        </p:spPr>
      </p:pic>
      <p:sp>
        <p:nvSpPr>
          <p:cNvPr id="5" name="Footer Placeholder 4">
            <a:extLst>
              <a:ext uri="{FF2B5EF4-FFF2-40B4-BE49-F238E27FC236}">
                <a16:creationId xmlns:a16="http://schemas.microsoft.com/office/drawing/2014/main" id="{558CF1D8-24D8-FA62-1F4B-C68642F5F889}"/>
              </a:ext>
            </a:extLst>
          </p:cNvPr>
          <p:cNvSpPr>
            <a:spLocks noGrp="1"/>
          </p:cNvSpPr>
          <p:nvPr>
            <p:ph type="ftr" sz="quarter" idx="11"/>
          </p:nvPr>
        </p:nvSpPr>
        <p:spPr>
          <a:xfrm>
            <a:off x="4038600" y="6356350"/>
            <a:ext cx="4114800" cy="365125"/>
          </a:xfrm>
        </p:spPr>
        <p:txBody>
          <a:bodyPr/>
          <a:lstStyle/>
          <a:p>
            <a:r>
              <a:rPr lang="en-IN" dirty="0"/>
              <a:t>School of Computing - SRM Institute of Science &amp; Technology, Tiruchirappalli</a:t>
            </a:r>
          </a:p>
        </p:txBody>
      </p:sp>
      <p:sp>
        <p:nvSpPr>
          <p:cNvPr id="8" name="Content Placeholder 2">
            <a:extLst>
              <a:ext uri="{FF2B5EF4-FFF2-40B4-BE49-F238E27FC236}">
                <a16:creationId xmlns:a16="http://schemas.microsoft.com/office/drawing/2014/main" id="{52E0CF8F-C3D5-68AA-E5DD-59B4178685EE}"/>
              </a:ext>
            </a:extLst>
          </p:cNvPr>
          <p:cNvSpPr>
            <a:spLocks noGrp="1"/>
          </p:cNvSpPr>
          <p:nvPr>
            <p:ph idx="1"/>
          </p:nvPr>
        </p:nvSpPr>
        <p:spPr>
          <a:xfrm>
            <a:off x="1196787" y="1612152"/>
            <a:ext cx="9798424" cy="4627284"/>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The project follows a structured approach starting with data preprocessing, where unnecessary columns are removed and new features such as age and transaction time are created. Categorical variables are encoded into numerical form for model compatibility. To handle the imbalance in the dataset, the SMOTE technique is applied, which generates synthetic fraud samples. Finally, a machine learning model is trained on the processed data.</a:t>
            </a:r>
          </a:p>
        </p:txBody>
      </p:sp>
    </p:spTree>
    <p:extLst>
      <p:ext uri="{BB962C8B-B14F-4D97-AF65-F5344CB8AC3E}">
        <p14:creationId xmlns:p14="http://schemas.microsoft.com/office/powerpoint/2010/main" val="381555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14ECC5-C4CA-0DE2-A93A-F87780D31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7EFFD-9E19-6DE4-0E0C-493E54660342}"/>
              </a:ext>
            </a:extLst>
          </p:cNvPr>
          <p:cNvSpPr>
            <a:spLocks noGrp="1"/>
          </p:cNvSpPr>
          <p:nvPr>
            <p:ph type="title"/>
          </p:nvPr>
        </p:nvSpPr>
        <p:spPr>
          <a:xfrm>
            <a:off x="1329631" y="250199"/>
            <a:ext cx="10374688" cy="1159200"/>
          </a:xfrm>
        </p:spPr>
        <p:txBody>
          <a:bodyPr vert="horz" lIns="91440" tIns="45720" rIns="91440" bIns="45720" rtlCol="0" anchor="ctr">
            <a:normAutofit/>
          </a:bodyPr>
          <a:lstStyle/>
          <a:p>
            <a:pPr algn="ctr"/>
            <a:r>
              <a:rPr lang="en-US" b="1" kern="1200" dirty="0">
                <a:latin typeface="Times New Roman" panose="02020603050405020304" pitchFamily="18" charset="0"/>
                <a:cs typeface="Times New Roman" panose="02020603050405020304" pitchFamily="18" charset="0"/>
              </a:rPr>
              <a:t>Model and Evaluation</a:t>
            </a:r>
          </a:p>
        </p:txBody>
      </p:sp>
      <p:sp>
        <p:nvSpPr>
          <p:cNvPr id="6" name="Slide Number Placeholder 5">
            <a:extLst>
              <a:ext uri="{FF2B5EF4-FFF2-40B4-BE49-F238E27FC236}">
                <a16:creationId xmlns:a16="http://schemas.microsoft.com/office/drawing/2014/main" id="{38729209-7C49-2392-B6C9-E2B8E29FFB4C}"/>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9C987D95-E3E9-43CF-A987-B5CE8A616346}" type="slidenum">
              <a:rPr lang="en-US" sz="110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pic>
        <p:nvPicPr>
          <p:cNvPr id="3" name="Picture 2">
            <a:extLst>
              <a:ext uri="{FF2B5EF4-FFF2-40B4-BE49-F238E27FC236}">
                <a16:creationId xmlns:a16="http://schemas.microsoft.com/office/drawing/2014/main" id="{8835E751-915A-0AB4-A5AA-6C434BE33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764" y="231312"/>
            <a:ext cx="2061018" cy="1196974"/>
          </a:xfrm>
          <a:prstGeom prst="rect">
            <a:avLst/>
          </a:prstGeom>
        </p:spPr>
      </p:pic>
      <p:sp>
        <p:nvSpPr>
          <p:cNvPr id="5" name="Footer Placeholder 4">
            <a:extLst>
              <a:ext uri="{FF2B5EF4-FFF2-40B4-BE49-F238E27FC236}">
                <a16:creationId xmlns:a16="http://schemas.microsoft.com/office/drawing/2014/main" id="{09906C9E-450C-FF89-8FFE-A9EDC26B2616}"/>
              </a:ext>
            </a:extLst>
          </p:cNvPr>
          <p:cNvSpPr>
            <a:spLocks noGrp="1"/>
          </p:cNvSpPr>
          <p:nvPr>
            <p:ph type="ftr" sz="quarter" idx="11"/>
          </p:nvPr>
        </p:nvSpPr>
        <p:spPr>
          <a:xfrm>
            <a:off x="4038600" y="6356350"/>
            <a:ext cx="4114800" cy="365125"/>
          </a:xfrm>
        </p:spPr>
        <p:txBody>
          <a:bodyPr/>
          <a:lstStyle/>
          <a:p>
            <a:r>
              <a:rPr lang="en-IN" dirty="0"/>
              <a:t>School of Computing - SRM Institute of Science &amp; Technology, Tiruchirappalli</a:t>
            </a:r>
          </a:p>
        </p:txBody>
      </p:sp>
      <p:sp>
        <p:nvSpPr>
          <p:cNvPr id="7" name="Date Placeholder 3">
            <a:extLst>
              <a:ext uri="{FF2B5EF4-FFF2-40B4-BE49-F238E27FC236}">
                <a16:creationId xmlns:a16="http://schemas.microsoft.com/office/drawing/2014/main" id="{C5DA5BCD-E976-247A-BE68-CF5B16D7A871}"/>
              </a:ext>
            </a:extLst>
          </p:cNvPr>
          <p:cNvSpPr txBox="1">
            <a:spLocks/>
          </p:cNvSpPr>
          <p:nvPr/>
        </p:nvSpPr>
        <p:spPr>
          <a:xfrm>
            <a:off x="336362" y="6346440"/>
            <a:ext cx="1196072" cy="365125"/>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spcAft>
                <a:spcPts val="600"/>
              </a:spcAft>
            </a:pPr>
            <a:r>
              <a:rPr lang="en-US" sz="1100" dirty="0">
                <a:solidFill>
                  <a:schemeClr val="tx1">
                    <a:lumMod val="50000"/>
                    <a:lumOff val="50000"/>
                  </a:schemeClr>
                </a:solidFill>
              </a:rPr>
              <a:t>20-04-2026</a:t>
            </a:r>
          </a:p>
        </p:txBody>
      </p:sp>
      <p:sp>
        <p:nvSpPr>
          <p:cNvPr id="4" name="Content Placeholder 2">
            <a:extLst>
              <a:ext uri="{FF2B5EF4-FFF2-40B4-BE49-F238E27FC236}">
                <a16:creationId xmlns:a16="http://schemas.microsoft.com/office/drawing/2014/main" id="{E380673F-E5BA-4981-9729-C3257C07FF5F}"/>
              </a:ext>
            </a:extLst>
          </p:cNvPr>
          <p:cNvSpPr>
            <a:spLocks noGrp="1"/>
          </p:cNvSpPr>
          <p:nvPr>
            <p:ph idx="1"/>
          </p:nvPr>
        </p:nvSpPr>
        <p:spPr>
          <a:xfrm>
            <a:off x="1196787" y="1612152"/>
            <a:ext cx="9798424" cy="4627284"/>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The Random Forest algorithm is used for this project as it is an ensemble learning method that combines multiple decision trees to improve accuracy and reduce overfitting. The model is evaluated using precision, recall, and F1-score instead of accuracy, as the dataset is imbalanced. Recall is particularly important because it measures how many fraud cases are correctly detected.</a:t>
            </a:r>
          </a:p>
        </p:txBody>
      </p:sp>
    </p:spTree>
    <p:extLst>
      <p:ext uri="{BB962C8B-B14F-4D97-AF65-F5344CB8AC3E}">
        <p14:creationId xmlns:p14="http://schemas.microsoft.com/office/powerpoint/2010/main" val="786749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4683-725D-4A78-8818-68B72C3945DD}"/>
              </a:ext>
            </a:extLst>
          </p:cNvPr>
          <p:cNvSpPr>
            <a:spLocks noGrp="1"/>
          </p:cNvSpPr>
          <p:nvPr>
            <p:ph type="title"/>
          </p:nvPr>
        </p:nvSpPr>
        <p:spPr>
          <a:xfrm>
            <a:off x="1196787" y="169675"/>
            <a:ext cx="10515600" cy="1325563"/>
          </a:xfrm>
        </p:spPr>
        <p:txBody>
          <a:bodyPr/>
          <a:lstStyle/>
          <a:p>
            <a:pPr algn="ctr"/>
            <a:r>
              <a:rPr lang="en-IN" b="1" dirty="0">
                <a:latin typeface="Times New Roman" panose="02020603050405020304" pitchFamily="18" charset="0"/>
                <a:cs typeface="Times New Roman" panose="02020603050405020304" pitchFamily="18" charset="0"/>
              </a:rPr>
              <a:t>Results and Analysis</a:t>
            </a:r>
          </a:p>
        </p:txBody>
      </p:sp>
      <p:sp>
        <p:nvSpPr>
          <p:cNvPr id="4" name="Date Placeholder 3">
            <a:extLst>
              <a:ext uri="{FF2B5EF4-FFF2-40B4-BE49-F238E27FC236}">
                <a16:creationId xmlns:a16="http://schemas.microsoft.com/office/drawing/2014/main" id="{05BC18FB-8828-42FB-8C4A-6993AE4EA44C}"/>
              </a:ext>
            </a:extLst>
          </p:cNvPr>
          <p:cNvSpPr>
            <a:spLocks noGrp="1"/>
          </p:cNvSpPr>
          <p:nvPr>
            <p:ph type="dt" sz="half" idx="10"/>
          </p:nvPr>
        </p:nvSpPr>
        <p:spPr/>
        <p:txBody>
          <a:bodyPr/>
          <a:lstStyle/>
          <a:p>
            <a:r>
              <a:rPr lang="en-IN" dirty="0"/>
              <a:t>20-04-2026</a:t>
            </a:r>
          </a:p>
        </p:txBody>
      </p:sp>
      <p:sp>
        <p:nvSpPr>
          <p:cNvPr id="5" name="Footer Placeholder 4">
            <a:extLst>
              <a:ext uri="{FF2B5EF4-FFF2-40B4-BE49-F238E27FC236}">
                <a16:creationId xmlns:a16="http://schemas.microsoft.com/office/drawing/2014/main" id="{D57B1B74-3F56-4A93-80F0-95A857398FF0}"/>
              </a:ext>
            </a:extLst>
          </p:cNvPr>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a:extLst>
              <a:ext uri="{FF2B5EF4-FFF2-40B4-BE49-F238E27FC236}">
                <a16:creationId xmlns:a16="http://schemas.microsoft.com/office/drawing/2014/main" id="{F73592BF-806D-448D-A44D-5B9E2736A7F6}"/>
              </a:ext>
            </a:extLst>
          </p:cNvPr>
          <p:cNvSpPr>
            <a:spLocks noGrp="1"/>
          </p:cNvSpPr>
          <p:nvPr>
            <p:ph type="sldNum" sz="quarter" idx="12"/>
          </p:nvPr>
        </p:nvSpPr>
        <p:spPr/>
        <p:txBody>
          <a:bodyPr/>
          <a:lstStyle/>
          <a:p>
            <a:fld id="{9C987D95-E3E9-43CF-A987-B5CE8A616346}" type="slidenum">
              <a:rPr lang="en-IN" smtClean="0"/>
              <a:t>7</a:t>
            </a:fld>
            <a:endParaRPr lang="en-IN"/>
          </a:p>
        </p:txBody>
      </p:sp>
      <p:pic>
        <p:nvPicPr>
          <p:cNvPr id="3" name="Picture 2">
            <a:extLst>
              <a:ext uri="{FF2B5EF4-FFF2-40B4-BE49-F238E27FC236}">
                <a16:creationId xmlns:a16="http://schemas.microsoft.com/office/drawing/2014/main" id="{D0798117-C976-7C78-63E4-0C85375D8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211" y="228132"/>
            <a:ext cx="2061018" cy="1196974"/>
          </a:xfrm>
          <a:prstGeom prst="rect">
            <a:avLst/>
          </a:prstGeom>
        </p:spPr>
      </p:pic>
      <p:sp>
        <p:nvSpPr>
          <p:cNvPr id="7" name="Content Placeholder 2">
            <a:extLst>
              <a:ext uri="{FF2B5EF4-FFF2-40B4-BE49-F238E27FC236}">
                <a16:creationId xmlns:a16="http://schemas.microsoft.com/office/drawing/2014/main" id="{68481B7B-5E01-F80F-150D-26EB6C742DF3}"/>
              </a:ext>
            </a:extLst>
          </p:cNvPr>
          <p:cNvSpPr>
            <a:spLocks noGrp="1"/>
          </p:cNvSpPr>
          <p:nvPr>
            <p:ph idx="1"/>
          </p:nvPr>
        </p:nvSpPr>
        <p:spPr>
          <a:xfrm>
            <a:off x="838201" y="1612152"/>
            <a:ext cx="6141334" cy="4627284"/>
          </a:xfrm>
        </p:spPr>
        <p:txBody>
          <a:bodyPr>
            <a:normAutofit fontScale="92500"/>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The model achieved a recall of approximately 82%, indicating that it successfully identified most fraudulent transactions. The confusion matrix shows that the number of missed fraud cases is relatively low, which is critical in fraud detection systems. Visualizations such as fraud distribution graphs and correlation heatmaps were used to better understand the dataset and model performance.</a:t>
            </a:r>
          </a:p>
        </p:txBody>
      </p:sp>
      <p:pic>
        <p:nvPicPr>
          <p:cNvPr id="9" name="Picture 8">
            <a:extLst>
              <a:ext uri="{FF2B5EF4-FFF2-40B4-BE49-F238E27FC236}">
                <a16:creationId xmlns:a16="http://schemas.microsoft.com/office/drawing/2014/main" id="{05BF44F3-411B-571C-7D9C-7A38C065E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564" y="1626385"/>
            <a:ext cx="4476823" cy="3605229"/>
          </a:xfrm>
          <a:prstGeom prst="rect">
            <a:avLst/>
          </a:prstGeom>
        </p:spPr>
      </p:pic>
    </p:spTree>
    <p:extLst>
      <p:ext uri="{BB962C8B-B14F-4D97-AF65-F5344CB8AC3E}">
        <p14:creationId xmlns:p14="http://schemas.microsoft.com/office/powerpoint/2010/main" val="2258521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72A84-1663-368A-BB8A-6E08637AD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529CD-68DF-D6E0-A903-4BB690C5E08B}"/>
              </a:ext>
            </a:extLst>
          </p:cNvPr>
          <p:cNvSpPr>
            <a:spLocks noGrp="1"/>
          </p:cNvSpPr>
          <p:nvPr>
            <p:ph type="title"/>
          </p:nvPr>
        </p:nvSpPr>
        <p:spPr>
          <a:xfrm>
            <a:off x="1483661" y="181817"/>
            <a:ext cx="10515600" cy="1325563"/>
          </a:xfrm>
        </p:spPr>
        <p:txBody>
          <a:bodyPr/>
          <a:lstStyle/>
          <a:p>
            <a:pPr algn="ctr"/>
            <a:r>
              <a:rPr lang="en-IN" b="1" dirty="0">
                <a:latin typeface="Times New Roman" panose="02020603050405020304" pitchFamily="18" charset="0"/>
                <a:cs typeface="Times New Roman" panose="02020603050405020304" pitchFamily="18" charset="0"/>
              </a:rPr>
              <a:t>Conclusion and Future Scope</a:t>
            </a:r>
          </a:p>
        </p:txBody>
      </p:sp>
      <p:sp>
        <p:nvSpPr>
          <p:cNvPr id="4" name="Date Placeholder 3">
            <a:extLst>
              <a:ext uri="{FF2B5EF4-FFF2-40B4-BE49-F238E27FC236}">
                <a16:creationId xmlns:a16="http://schemas.microsoft.com/office/drawing/2014/main" id="{D80A2CA4-5734-F31C-3497-1AB2F7E2CBB7}"/>
              </a:ext>
            </a:extLst>
          </p:cNvPr>
          <p:cNvSpPr>
            <a:spLocks noGrp="1"/>
          </p:cNvSpPr>
          <p:nvPr>
            <p:ph type="dt" sz="half" idx="10"/>
          </p:nvPr>
        </p:nvSpPr>
        <p:spPr/>
        <p:txBody>
          <a:bodyPr/>
          <a:lstStyle/>
          <a:p>
            <a:r>
              <a:rPr lang="en-IN" dirty="0"/>
              <a:t>20-04-2026</a:t>
            </a:r>
          </a:p>
        </p:txBody>
      </p:sp>
      <p:sp>
        <p:nvSpPr>
          <p:cNvPr id="5" name="Footer Placeholder 4">
            <a:extLst>
              <a:ext uri="{FF2B5EF4-FFF2-40B4-BE49-F238E27FC236}">
                <a16:creationId xmlns:a16="http://schemas.microsoft.com/office/drawing/2014/main" id="{6CFCA4ED-6CDE-B27E-A763-CB0F649DF700}"/>
              </a:ext>
            </a:extLst>
          </p:cNvPr>
          <p:cNvSpPr>
            <a:spLocks noGrp="1"/>
          </p:cNvSpPr>
          <p:nvPr>
            <p:ph type="ftr" sz="quarter" idx="11"/>
          </p:nvPr>
        </p:nvSpPr>
        <p:spPr/>
        <p:txBody>
          <a:bodyPr/>
          <a:lstStyle/>
          <a:p>
            <a:r>
              <a:rPr lang="en-IN"/>
              <a:t>School of Computing - SRM Institute of Science &amp; Technology, Tiruchirappalli</a:t>
            </a:r>
          </a:p>
        </p:txBody>
      </p:sp>
      <p:sp>
        <p:nvSpPr>
          <p:cNvPr id="6" name="Slide Number Placeholder 5">
            <a:extLst>
              <a:ext uri="{FF2B5EF4-FFF2-40B4-BE49-F238E27FC236}">
                <a16:creationId xmlns:a16="http://schemas.microsoft.com/office/drawing/2014/main" id="{B2B7018C-9AF2-4023-3200-50A6C51E2EAF}"/>
              </a:ext>
            </a:extLst>
          </p:cNvPr>
          <p:cNvSpPr>
            <a:spLocks noGrp="1"/>
          </p:cNvSpPr>
          <p:nvPr>
            <p:ph type="sldNum" sz="quarter" idx="12"/>
          </p:nvPr>
        </p:nvSpPr>
        <p:spPr/>
        <p:txBody>
          <a:bodyPr/>
          <a:lstStyle/>
          <a:p>
            <a:fld id="{9C987D95-E3E9-43CF-A987-B5CE8A616346}" type="slidenum">
              <a:rPr lang="en-IN" smtClean="0"/>
              <a:t>8</a:t>
            </a:fld>
            <a:endParaRPr lang="en-IN"/>
          </a:p>
        </p:txBody>
      </p:sp>
      <p:pic>
        <p:nvPicPr>
          <p:cNvPr id="3" name="Picture 2">
            <a:extLst>
              <a:ext uri="{FF2B5EF4-FFF2-40B4-BE49-F238E27FC236}">
                <a16:creationId xmlns:a16="http://schemas.microsoft.com/office/drawing/2014/main" id="{78D2C165-7CE3-D3A2-7346-A74B54DB7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926" y="246111"/>
            <a:ext cx="2061018" cy="1196974"/>
          </a:xfrm>
          <a:prstGeom prst="rect">
            <a:avLst/>
          </a:prstGeom>
        </p:spPr>
      </p:pic>
      <p:sp>
        <p:nvSpPr>
          <p:cNvPr id="7" name="Content Placeholder 2">
            <a:extLst>
              <a:ext uri="{FF2B5EF4-FFF2-40B4-BE49-F238E27FC236}">
                <a16:creationId xmlns:a16="http://schemas.microsoft.com/office/drawing/2014/main" id="{23B14437-37BF-3517-D7C8-606E62B62DDA}"/>
              </a:ext>
            </a:extLst>
          </p:cNvPr>
          <p:cNvSpPr>
            <a:spLocks noGrp="1"/>
          </p:cNvSpPr>
          <p:nvPr>
            <p:ph idx="1"/>
          </p:nvPr>
        </p:nvSpPr>
        <p:spPr>
          <a:xfrm>
            <a:off x="1196787" y="1612152"/>
            <a:ext cx="9798424" cy="4627284"/>
          </a:xfrm>
        </p:spPr>
        <p:txBody>
          <a:bodyPr>
            <a:normAutofit/>
          </a:bodyPr>
          <a:lstStyle/>
          <a:p>
            <a:pPr marL="0" indent="0" algn="just">
              <a:lnSpc>
                <a:spcPct val="2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	This project demonstrates the effectiveness of machine learning in detecting financial fraud. By combining data preprocessing, imbalance handling using SMOTE, and a Random Forest model, the system achieves strong performance. In the future, the model can be enhanced using deep learning techniques and deployed for real-time fraud detection systems to improve financial security. This project supports SDG Goal 16: Peace, Justice and Strong Institutions.</a:t>
            </a:r>
          </a:p>
        </p:txBody>
      </p:sp>
    </p:spTree>
    <p:extLst>
      <p:ext uri="{BB962C8B-B14F-4D97-AF65-F5344CB8AC3E}">
        <p14:creationId xmlns:p14="http://schemas.microsoft.com/office/powerpoint/2010/main" val="613113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349</TotalTime>
  <Words>631</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Bahnschrift</vt:lpstr>
      <vt:lpstr>Book Antiqua</vt:lpstr>
      <vt:lpstr>Calibri</vt:lpstr>
      <vt:lpstr>Calibri Light</vt:lpstr>
      <vt:lpstr>Times New Roman</vt:lpstr>
      <vt:lpstr>Office Theme</vt:lpstr>
      <vt:lpstr>FraudShield: Detecting Credit Card Fraud Using Machine Learning</vt:lpstr>
      <vt:lpstr>Introduction</vt:lpstr>
      <vt:lpstr>Problem Statement</vt:lpstr>
      <vt:lpstr>Dataset Description</vt:lpstr>
      <vt:lpstr>Methodology</vt:lpstr>
      <vt:lpstr>Model and Evaluation</vt:lpstr>
      <vt:lpstr>Results and Analysis</vt:lpstr>
      <vt:lpstr>Conclusion and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Course Project Tile</dc:title>
  <dc:creator>Manjula R</dc:creator>
  <cp:lastModifiedBy>Madhav K Mohan</cp:lastModifiedBy>
  <cp:revision>10</cp:revision>
  <dcterms:created xsi:type="dcterms:W3CDTF">2025-07-28T13:17:15Z</dcterms:created>
  <dcterms:modified xsi:type="dcterms:W3CDTF">2026-04-17T10:11:34Z</dcterms:modified>
</cp:coreProperties>
</file>